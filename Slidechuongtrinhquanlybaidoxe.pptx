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8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HỆ THỐNG QUẢN LÝ BÃI ĐỖ 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AE7F6"/>
                </a:solidFill>
                <a:latin typeface="Arial"/>
              </a:defRPr>
            </a:pPr>
            <a:r>
              <a:t>Ứng dụng web • Java Spring Boot • Thymeleaf • JDBC • MySQL/MariaDB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246120" cy="2880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84831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Arial"/>
              </a:defRPr>
            </a:pPr>
            <a:r>
              <a:t>THEO DÕI BÃI 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651760"/>
            <a:ext cx="285292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F3A46"/>
                </a:solidFill>
                <a:latin typeface="Arial"/>
              </a:defRPr>
            </a:pPr>
            <a:r>
              <a:t>• Tổng số ô và ô còn trống</a:t>
            </a:r>
          </a:p>
          <a:p>
            <a:pPr>
              <a:spcAft>
                <a:spcPts val="1100"/>
              </a:spcAft>
              <a:defRPr sz="1400">
                <a:solidFill>
                  <a:srgbClr val="2F3A46"/>
                </a:solidFill>
                <a:latin typeface="Arial"/>
              </a:defRPr>
            </a:pPr>
            <a:r>
              <a:t>• Xe đang gửi, doanh thu trong ngày</a:t>
            </a:r>
          </a:p>
          <a:p>
            <a:pPr>
              <a:spcAft>
                <a:spcPts val="1100"/>
              </a:spcAft>
              <a:defRPr sz="1400">
                <a:solidFill>
                  <a:srgbClr val="2F3A46"/>
                </a:solidFill>
                <a:latin typeface="Arial"/>
              </a:defRPr>
            </a:pPr>
            <a:r>
              <a:t>• Trạng thái theo loại phương tiện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828800"/>
            <a:ext cx="3246120" cy="2880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2084831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Arial"/>
              </a:defRPr>
            </a:pPr>
            <a:r>
              <a:t>NHẬN XE – TRẢ 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2651760"/>
            <a:ext cx="285292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F3A46"/>
                </a:solidFill>
                <a:latin typeface="Arial"/>
              </a:defRPr>
            </a:pPr>
            <a:r>
              <a:t>• Tự tìm ô phù hợp với loại xe</a:t>
            </a:r>
          </a:p>
          <a:p>
            <a:pPr>
              <a:spcAft>
                <a:spcPts val="1100"/>
              </a:spcAft>
              <a:defRPr sz="1400">
                <a:solidFill>
                  <a:srgbClr val="2F3A46"/>
                </a:solidFill>
                <a:latin typeface="Arial"/>
              </a:defRPr>
            </a:pPr>
            <a:r>
              <a:t>• Chặn biển số đang gửi bị trùng</a:t>
            </a:r>
          </a:p>
          <a:p>
            <a:pPr>
              <a:spcAft>
                <a:spcPts val="1100"/>
              </a:spcAft>
              <a:defRPr sz="1400">
                <a:solidFill>
                  <a:srgbClr val="2F3A46"/>
                </a:solidFill>
                <a:latin typeface="Arial"/>
              </a:defRPr>
            </a:pPr>
            <a:r>
              <a:t>• Tính phí theo giờ, tối thiểu 1 giờ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246120" cy="2880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084831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Arial"/>
              </a:defRPr>
            </a:pPr>
            <a:r>
              <a:t>QUẢN LÝ VẬN HÀNH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2651760"/>
            <a:ext cx="285292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F3A46"/>
                </a:solidFill>
                <a:latin typeface="Arial"/>
              </a:defRPr>
            </a:pPr>
            <a:r>
              <a:t>• Thêm/sửa/xóa ô đang trống</a:t>
            </a:r>
          </a:p>
          <a:p>
            <a:pPr>
              <a:spcAft>
                <a:spcPts val="1100"/>
              </a:spcAft>
              <a:defRPr sz="1400">
                <a:solidFill>
                  <a:srgbClr val="2F3A46"/>
                </a:solidFill>
                <a:latin typeface="Arial"/>
              </a:defRPr>
            </a:pPr>
            <a:r>
              <a:t>• Cập nhật giá theo loại xe</a:t>
            </a:r>
          </a:p>
          <a:p>
            <a:pPr>
              <a:spcAft>
                <a:spcPts val="1100"/>
              </a:spcAft>
              <a:defRPr sz="1400">
                <a:solidFill>
                  <a:srgbClr val="2F3A46"/>
                </a:solidFill>
                <a:latin typeface="Arial"/>
              </a:defRPr>
            </a:pPr>
            <a:r>
              <a:t>• Tra cứu xe và lịch sử gần đây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074920"/>
            <a:ext cx="10378440" cy="777240"/>
          </a:xfrm>
          <a:prstGeom prst="roundRect">
            <a:avLst/>
          </a:prstGeom>
          <a:solidFill>
            <a:srgbClr val="E2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28523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83A5F"/>
                </a:solidFill>
                <a:latin typeface="Arial"/>
              </a:defRPr>
            </a:pPr>
            <a:r>
              <a:t>GIÁ MẶC ĐỊNH:  Xe máy 5.000đ/giờ     •     Ô tô 15.000đ/giờ     •     Xe tải 25.000đ/giờ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447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26274"/>
                </a:solidFill>
                <a:latin typeface="Arial"/>
              </a:defRPr>
            </a:pPr>
            <a:r>
              <a:t>Mục tiêu: quản lý ô đỗ tập trung, giảm thao tác thủ công và tự động hóa tính phí gửi xe.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